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171"/>
    <p:restoredTop sz="94674"/>
  </p:normalViewPr>
  <p:slideViewPr>
    <p:cSldViewPr snapToGrid="0">
      <p:cViewPr>
        <p:scale>
          <a:sx n="72" d="100"/>
          <a:sy n="72" d="100"/>
        </p:scale>
        <p:origin x="-104" y="1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7B84D-BA0A-B847-B7E8-01811E85788C}" type="datetimeFigureOut">
              <a:rPr lang="ru-RU" smtClean="0"/>
              <a:t>27.08.2026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A1F8E-4A88-A744-B4C9-F05E1B26C6E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1865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7B84D-BA0A-B847-B7E8-01811E85788C}" type="datetimeFigureOut">
              <a:rPr lang="ru-RU" smtClean="0"/>
              <a:t>27.08.2026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A1F8E-4A88-A744-B4C9-F05E1B26C6E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85849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7B84D-BA0A-B847-B7E8-01811E85788C}" type="datetimeFigureOut">
              <a:rPr lang="ru-RU" smtClean="0"/>
              <a:t>27.08.2026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A1F8E-4A88-A744-B4C9-F05E1B26C6E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28725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7B84D-BA0A-B847-B7E8-01811E85788C}" type="datetimeFigureOut">
              <a:rPr lang="ru-RU" smtClean="0"/>
              <a:t>27.08.2026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A1F8E-4A88-A744-B4C9-F05E1B26C6E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1312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7B84D-BA0A-B847-B7E8-01811E85788C}" type="datetimeFigureOut">
              <a:rPr lang="ru-RU" smtClean="0"/>
              <a:t>27.08.2026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A1F8E-4A88-A744-B4C9-F05E1B26C6E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09494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7B84D-BA0A-B847-B7E8-01811E85788C}" type="datetimeFigureOut">
              <a:rPr lang="ru-RU" smtClean="0"/>
              <a:t>27.08.2026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A1F8E-4A88-A744-B4C9-F05E1B26C6E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69262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7B84D-BA0A-B847-B7E8-01811E85788C}" type="datetimeFigureOut">
              <a:rPr lang="ru-RU" smtClean="0"/>
              <a:t>27.08.2026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A1F8E-4A88-A744-B4C9-F05E1B26C6E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10276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7B84D-BA0A-B847-B7E8-01811E85788C}" type="datetimeFigureOut">
              <a:rPr lang="ru-RU" smtClean="0"/>
              <a:t>27.08.2026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A1F8E-4A88-A744-B4C9-F05E1B26C6E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6836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A447B84D-BA0A-B847-B7E8-01811E85788C}" type="datetimeFigureOut">
              <a:rPr lang="ru-RU" smtClean="0"/>
              <a:t>27.08.2026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750A1F8E-4A88-A744-B4C9-F05E1B26C6E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75968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7B84D-BA0A-B847-B7E8-01811E85788C}" type="datetimeFigureOut">
              <a:rPr lang="ru-RU" smtClean="0"/>
              <a:t>27.08.2026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A1F8E-4A88-A744-B4C9-F05E1B26C6E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20618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7B84D-BA0A-B847-B7E8-01811E85788C}" type="datetimeFigureOut">
              <a:rPr lang="ru-RU" smtClean="0"/>
              <a:t>27.08.2026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A1F8E-4A88-A744-B4C9-F05E1B26C6E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63434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7B84D-BA0A-B847-B7E8-01811E85788C}" type="datetimeFigureOut">
              <a:rPr lang="ru-RU" smtClean="0"/>
              <a:t>27.08.2026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A1F8E-4A88-A744-B4C9-F05E1B26C6E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3845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7B84D-BA0A-B847-B7E8-01811E85788C}" type="datetimeFigureOut">
              <a:rPr lang="ru-RU" smtClean="0"/>
              <a:t>27.08.2026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A1F8E-4A88-A744-B4C9-F05E1B26C6E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33554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7B84D-BA0A-B847-B7E8-01811E85788C}" type="datetimeFigureOut">
              <a:rPr lang="ru-RU" smtClean="0"/>
              <a:t>27.08.2026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A1F8E-4A88-A744-B4C9-F05E1B26C6E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73342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1_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7B84D-BA0A-B847-B7E8-01811E85788C}" type="datetimeFigureOut">
              <a:rPr lang="ru-RU" smtClean="0"/>
              <a:t>27.08.2026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A1F8E-4A88-A744-B4C9-F05E1B26C6E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1338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A447B84D-BA0A-B847-B7E8-01811E85788C}" type="datetimeFigureOut">
              <a:rPr lang="ru-RU" smtClean="0"/>
              <a:t>27.08.2026</a:t>
            </a:fld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750A1F8E-4A88-A744-B4C9-F05E1B26C6E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543982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  <p:sldLayoutId id="2147483733" r:id="rId13"/>
    <p:sldLayoutId id="2147483734" r:id="rId14"/>
    <p:sldLayoutId id="2147483735" r:id="rId15"/>
  </p:sldLayoutIdLst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8F9CA7-A1C6-8DD4-69B4-CBE7863197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8411" y="159488"/>
            <a:ext cx="10319320" cy="3269511"/>
          </a:xfrm>
        </p:spPr>
        <p:txBody>
          <a:bodyPr>
            <a:normAutofit/>
          </a:bodyPr>
          <a:lstStyle/>
          <a:p>
            <a:r>
              <a:rPr lang="en" b="0" i="0" u="none" strike="noStrike" dirty="0">
                <a:solidFill>
                  <a:srgbClr val="000000"/>
                </a:solidFill>
                <a:effectLst/>
              </a:rPr>
              <a:t>Adaptive Neural Interface System for ALS and Parkinson's Disease Patients</a:t>
            </a:r>
            <a:endParaRPr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142174F-0441-3EF4-6B72-3DB989D86D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8411" y="5263978"/>
            <a:ext cx="10813590" cy="1434533"/>
          </a:xfrm>
        </p:spPr>
        <p:txBody>
          <a:bodyPr>
            <a:normAutofit/>
          </a:bodyPr>
          <a:lstStyle/>
          <a:p>
            <a:r>
              <a:rPr lang="en" sz="2000" b="0" i="0" u="none" strike="noStrike" dirty="0">
                <a:effectLst/>
              </a:rPr>
              <a:t>Action-Oriented Research Project </a:t>
            </a:r>
            <a:endParaRPr lang="ru-RU" sz="2000" b="0" i="0" u="none" strike="noStrike" dirty="0">
              <a:effectLst/>
            </a:endParaRPr>
          </a:p>
          <a:p>
            <a:r>
              <a:rPr lang="en" sz="2000" b="0" i="0" u="none" strike="noStrike" dirty="0">
                <a:effectLst/>
              </a:rPr>
              <a:t>Author: Artem </a:t>
            </a:r>
            <a:r>
              <a:rPr lang="en" sz="2000" b="0" i="0" u="none" strike="noStrike" dirty="0" err="1">
                <a:effectLst/>
              </a:rPr>
              <a:t>Kuvaev</a:t>
            </a:r>
            <a:endParaRPr lang="ru-RU" sz="2000" b="0" i="0" u="none" strike="noStrike" dirty="0">
              <a:effectLst/>
            </a:endParaRPr>
          </a:p>
          <a:p>
            <a:r>
              <a:rPr lang="en" sz="2000" b="0" i="0" u="none" strike="noStrike" dirty="0">
                <a:effectLst/>
              </a:rPr>
              <a:t>Scientific Advisor: Valeria </a:t>
            </a:r>
            <a:r>
              <a:rPr lang="en" sz="2000" b="0" i="0" u="none" strike="noStrike" dirty="0" err="1">
                <a:effectLst/>
              </a:rPr>
              <a:t>Boldyreva</a:t>
            </a:r>
            <a:r>
              <a:rPr lang="en" sz="2000" b="0" i="0" u="none" strike="noStrike" dirty="0">
                <a:effectLst/>
              </a:rPr>
              <a:t>, Physics Teacher</a:t>
            </a:r>
            <a:endParaRPr sz="2000" dirty="0"/>
          </a:p>
        </p:txBody>
      </p:sp>
    </p:spTree>
    <p:extLst>
      <p:ext uri="{BB962C8B-B14F-4D97-AF65-F5344CB8AC3E}">
        <p14:creationId xmlns:p14="http://schemas.microsoft.com/office/powerpoint/2010/main" val="35779271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625" y="444844"/>
            <a:ext cx="3970380" cy="1612556"/>
          </a:xfrm>
        </p:spPr>
        <p:txBody>
          <a:bodyPr/>
          <a:lstStyle/>
          <a:p>
            <a:r>
              <a:rPr lang="en" sz="3600" b="0" i="0" u="none" strike="noStrike" dirty="0">
                <a:solidFill>
                  <a:schemeClr val="tx1"/>
                </a:solidFill>
                <a:effectLst/>
              </a:rPr>
              <a:t>Relevance &amp; Objectives</a:t>
            </a:r>
            <a:endParaRPr sz="3600" dirty="0">
              <a:solidFill>
                <a:schemeClr val="tx1"/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28626" y="2057399"/>
            <a:ext cx="4343400" cy="4071551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</a:pPr>
            <a:r>
              <a:rPr dirty="0"/>
              <a:t>• </a:t>
            </a:r>
            <a:r>
              <a:rPr lang="en" b="0" i="0" u="none" strike="noStrike" dirty="0">
                <a:effectLst/>
              </a:rPr>
              <a:t>ALS and Parkinson's disease severely limit movement and speech, while </a:t>
            </a:r>
            <a:r>
              <a:rPr lang="en" dirty="0"/>
              <a:t>cognitive Current brain-computer interfaces (BCIs) struggle to process damaged or noisy neural signals.</a:t>
            </a:r>
          </a:p>
          <a:p>
            <a:pPr>
              <a:spcBef>
                <a:spcPts val="600"/>
              </a:spcBef>
            </a:pPr>
            <a:r>
              <a:rPr lang="en" dirty="0"/>
              <a:t>• Project Goal: Develop an algorithm prototype achieving ≥ 85% accuracy on synthetic datasets.</a:t>
            </a:r>
          </a:p>
          <a:p>
            <a:pPr>
              <a:spcBef>
                <a:spcPts val="600"/>
              </a:spcBef>
            </a:pPr>
            <a:r>
              <a:rPr lang="en" dirty="0"/>
              <a:t>• Solution: An adaptive system tailored to the individual neurophysiological characteristics of each patient.</a:t>
            </a:r>
          </a:p>
          <a:p>
            <a:r>
              <a:rPr lang="en" b="0" i="0" u="none" strike="noStrike" dirty="0">
                <a:effectLst/>
              </a:rPr>
              <a:t>functions remain fully intact.</a:t>
            </a:r>
            <a:endParaRPr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4A0D558-C830-5A2B-4B36-C9ABC2855719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17508" r="17508"/>
          <a:stretch>
            <a:fillRect/>
          </a:stretch>
        </p:blipFill>
        <p:spPr/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1427" y="510040"/>
            <a:ext cx="11080069" cy="957943"/>
          </a:xfrm>
        </p:spPr>
        <p:txBody>
          <a:bodyPr/>
          <a:lstStyle/>
          <a:p>
            <a:r>
              <a:rPr lang="en" sz="3600" b="0" i="0" u="none" strike="noStrike" dirty="0">
                <a:solidFill>
                  <a:schemeClr val="tx1"/>
                </a:solidFill>
                <a:effectLst/>
              </a:rPr>
              <a:t>Chapter 1: Algorithm Architecture</a:t>
            </a:r>
            <a:endParaRPr sz="3600" dirty="0">
              <a:solidFill>
                <a:schemeClr val="tx1"/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1804086"/>
            <a:ext cx="10515600" cy="4543874"/>
          </a:xfrm>
        </p:spPr>
        <p:txBody>
          <a:bodyPr>
            <a:normAutofit/>
          </a:bodyPr>
          <a:lstStyle/>
          <a:p>
            <a:r>
              <a:rPr lang="ru-RU" sz="1800" dirty="0"/>
              <a:t>• </a:t>
            </a:r>
            <a:r>
              <a:rPr lang="en" sz="2400" b="0" i="0" u="none" strike="noStrike" dirty="0">
                <a:effectLst/>
              </a:rPr>
              <a:t>Signal Preprocessing: Butterworth, notch, and bandpass filtering. </a:t>
            </a:r>
            <a:endParaRPr lang="ru-RU" sz="2400" b="0" i="0" u="none" strike="noStrike" dirty="0">
              <a:effectLst/>
            </a:endParaRPr>
          </a:p>
          <a:p>
            <a:r>
              <a:rPr lang="en" sz="2400" b="0" i="0" u="none" strike="noStrike" dirty="0">
                <a:effectLst/>
              </a:rPr>
              <a:t>• Feature Extraction: Spectral analysis and data normalization. </a:t>
            </a:r>
            <a:endParaRPr lang="ru-RU" sz="2400" dirty="0"/>
          </a:p>
          <a:p>
            <a:r>
              <a:rPr lang="en" sz="2400" b="0" i="0" u="none" strike="noStrike" dirty="0">
                <a:effectLst/>
              </a:rPr>
              <a:t>• Machine Learning Models: Deep learning integration using CNN and LSTM architectures.</a:t>
            </a:r>
            <a:endParaRPr lang="ru-RU" sz="2400" b="0" i="0" u="none" strike="noStrike" dirty="0">
              <a:effectLst/>
            </a:endParaRPr>
          </a:p>
          <a:p>
            <a:r>
              <a:rPr lang="en" sz="2400" b="0" i="0" u="none" strike="noStrike" dirty="0">
                <a:effectLst/>
              </a:rPr>
              <a:t>• Loss Functions: Optimized via MSE, Cross-Entropy, and Dice Loss.</a:t>
            </a:r>
            <a:endParaRPr lang="ru-RU" sz="2400" dirty="0"/>
          </a:p>
          <a:p>
            <a:r>
              <a:rPr lang="en" sz="2400" b="0" i="0" u="none" strike="noStrike" dirty="0">
                <a:effectLst/>
              </a:rPr>
              <a:t>• Modular Pipeline: Comprises attention mechanism, signal reconstruction, and intent decoder blocks.</a:t>
            </a:r>
            <a:endParaRPr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6611" y="457200"/>
            <a:ext cx="3935413" cy="1600200"/>
          </a:xfrm>
        </p:spPr>
        <p:txBody>
          <a:bodyPr/>
          <a:lstStyle/>
          <a:p>
            <a:r>
              <a:rPr lang="en" sz="3600" b="0" i="0" u="none" strike="noStrike" dirty="0">
                <a:solidFill>
                  <a:schemeClr val="tx1"/>
                </a:solidFill>
                <a:effectLst/>
              </a:rPr>
              <a:t>Chapter 2: Synthetic Data Testing</a:t>
            </a:r>
            <a:endParaRPr sz="3600" dirty="0">
              <a:solidFill>
                <a:schemeClr val="tx1"/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8412" y="2057400"/>
            <a:ext cx="5090984" cy="4343400"/>
          </a:xfrm>
        </p:spPr>
        <p:txBody>
          <a:bodyPr>
            <a:noAutofit/>
          </a:bodyPr>
          <a:lstStyle/>
          <a:p>
            <a:r>
              <a:rPr lang="en" sz="2000" b="0" i="0" u="none" strike="noStrike" dirty="0">
                <a:effectLst/>
              </a:rPr>
              <a:t>• Framework validated on synthetic datasets matching </a:t>
            </a:r>
            <a:r>
              <a:rPr lang="en" sz="2000" b="0" i="0" u="none" strike="noStrike" dirty="0" err="1">
                <a:effectLst/>
              </a:rPr>
              <a:t>Neuralink</a:t>
            </a:r>
            <a:r>
              <a:rPr lang="en" sz="2000" b="0" i="0" u="none" strike="noStrike" dirty="0">
                <a:effectLst/>
              </a:rPr>
              <a:t> specifications (30 kHz, 1024 channels). </a:t>
            </a:r>
          </a:p>
          <a:p>
            <a:r>
              <a:rPr lang="en" sz="2000" b="0" i="0" u="none" strike="noStrike" dirty="0">
                <a:effectLst/>
              </a:rPr>
              <a:t>• ALS Models: Reached 92.2% signal restoration accuracy in early-stage simulations. </a:t>
            </a:r>
          </a:p>
          <a:p>
            <a:r>
              <a:rPr lang="en" sz="2000" b="0" i="0" u="none" strike="noStrike" dirty="0">
                <a:effectLst/>
              </a:rPr>
              <a:t>• Parkinson's Models: Demonstrated stable tremor suppression over long-duration records. </a:t>
            </a:r>
          </a:p>
          <a:p>
            <a:r>
              <a:rPr lang="en" sz="2000" b="0" i="0" u="none" strike="noStrike" dirty="0">
                <a:effectLst/>
              </a:rPr>
              <a:t>• Multi-stage evaluation conducted across early, intermediate, and critical phases of neurodegeneration.</a:t>
            </a:r>
            <a:endParaRPr sz="2000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8FEEAA3-14B5-515D-3277-E8BF9BA3FB33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22383" r="22383"/>
          <a:stretch>
            <a:fillRect/>
          </a:stretch>
        </p:blipFill>
        <p:spPr>
          <a:xfrm>
            <a:off x="5791200" y="995363"/>
            <a:ext cx="6124361" cy="5172355"/>
          </a:xfr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7180" y="627530"/>
            <a:ext cx="4164845" cy="1470212"/>
          </a:xfrm>
        </p:spPr>
        <p:txBody>
          <a:bodyPr/>
          <a:lstStyle/>
          <a:p>
            <a:r>
              <a:rPr lang="en" sz="3600" b="0" i="0" u="none" strike="noStrike" dirty="0">
                <a:solidFill>
                  <a:schemeClr val="tx1"/>
                </a:solidFill>
                <a:effectLst/>
              </a:rPr>
              <a:t>Chapter 3: External Hardware Unit</a:t>
            </a:r>
            <a:endParaRPr sz="3600" dirty="0">
              <a:solidFill>
                <a:schemeClr val="tx1"/>
              </a:solidFill>
            </a:endParaRPr>
          </a:p>
        </p:txBody>
      </p:sp>
      <p:pic>
        <p:nvPicPr>
          <p:cNvPr id="3" name="Picture Placeholder 2" descr="medical.jp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10520" b="10520"/>
          <a:stretch>
            <a:fillRect/>
          </a:stretch>
        </p:blipFill>
        <p:spPr>
          <a:xfrm>
            <a:off x="5192265" y="762000"/>
            <a:ext cx="6755242" cy="5334000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7180" y="2281518"/>
            <a:ext cx="4395126" cy="4146176"/>
          </a:xfrm>
        </p:spPr>
        <p:txBody>
          <a:bodyPr>
            <a:noAutofit/>
          </a:bodyPr>
          <a:lstStyle/>
          <a:p>
            <a:r>
              <a:rPr lang="en" sz="1800" b="0" i="0" u="none" strike="noStrike" dirty="0">
                <a:effectLst/>
              </a:rPr>
              <a:t>• Advanced BCIs require heavy computing power, necessitating an external wearable processing unit. </a:t>
            </a:r>
          </a:p>
          <a:p>
            <a:r>
              <a:rPr lang="en" sz="1800" b="0" i="0" u="none" strike="noStrike" dirty="0">
                <a:effectLst/>
              </a:rPr>
              <a:t>• Hardware Components: High-performance deployment using GPU and FPGA architectures. </a:t>
            </a:r>
          </a:p>
          <a:p>
            <a:r>
              <a:rPr lang="en" sz="1800" b="0" i="0" u="none" strike="noStrike" dirty="0">
                <a:effectLst/>
              </a:rPr>
              <a:t>• Real-time data processing and signal decoding. </a:t>
            </a:r>
          </a:p>
          <a:p>
            <a:r>
              <a:rPr lang="en" sz="1800" b="0" i="0" u="none" strike="noStrike" dirty="0">
                <a:effectLst/>
              </a:rPr>
              <a:t>• Seamless integration with the </a:t>
            </a:r>
            <a:r>
              <a:rPr lang="en" sz="1800" b="0" i="0" u="none" strike="noStrike" dirty="0" err="1">
                <a:effectLst/>
              </a:rPr>
              <a:t>Neuralink</a:t>
            </a:r>
            <a:r>
              <a:rPr lang="en" sz="1800" b="0" i="0" u="none" strike="noStrike" dirty="0">
                <a:effectLst/>
              </a:rPr>
              <a:t> Box environment. </a:t>
            </a:r>
          </a:p>
          <a:p>
            <a:r>
              <a:rPr lang="en" sz="1800" b="0" i="0" u="none" strike="noStrike" dirty="0">
                <a:effectLst/>
              </a:rPr>
              <a:t>• Customized algorithmic pipelines designed specifically for Parkinson's tremor filtering.</a:t>
            </a:r>
            <a:endParaRPr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7882" y="457200"/>
            <a:ext cx="4234143" cy="1461247"/>
          </a:xfrm>
        </p:spPr>
        <p:txBody>
          <a:bodyPr/>
          <a:lstStyle/>
          <a:p>
            <a:r>
              <a:rPr lang="en" sz="3600" b="0" i="0" u="none" strike="noStrike" dirty="0">
                <a:solidFill>
                  <a:schemeClr val="tx1"/>
                </a:solidFill>
                <a:effectLst/>
              </a:rPr>
              <a:t>Chapter 4: Expert Consultation</a:t>
            </a:r>
            <a:endParaRPr sz="3600" dirty="0">
              <a:solidFill>
                <a:schemeClr val="tx1"/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234143" cy="4004048"/>
          </a:xfrm>
        </p:spPr>
        <p:txBody>
          <a:bodyPr>
            <a:noAutofit/>
          </a:bodyPr>
          <a:lstStyle/>
          <a:p>
            <a:r>
              <a:rPr lang="en" sz="1800" b="0" i="0" u="none" strike="noStrike" dirty="0">
                <a:effectLst/>
              </a:rPr>
              <a:t>• Academic Review: Mentored by Aleksandr Terekhov, Department of Normal Physiology at SZGMU named after I.I. </a:t>
            </a:r>
            <a:r>
              <a:rPr lang="en" sz="1800" b="0" i="0" u="none" strike="noStrike" dirty="0" err="1">
                <a:effectLst/>
              </a:rPr>
              <a:t>Mechnikov</a:t>
            </a:r>
            <a:r>
              <a:rPr lang="en" sz="1800" b="0" i="0" u="none" strike="noStrike" dirty="0">
                <a:effectLst/>
              </a:rPr>
              <a:t>. </a:t>
            </a:r>
          </a:p>
          <a:p>
            <a:r>
              <a:rPr lang="en" sz="1800" b="0" i="0" u="none" strike="noStrike" dirty="0">
                <a:effectLst/>
              </a:rPr>
              <a:t>• Project conceptualization evaluated as highly promising and practically feasible. </a:t>
            </a:r>
          </a:p>
          <a:p>
            <a:r>
              <a:rPr lang="en" sz="1800" b="0" i="0" u="none" strike="noStrike" dirty="0">
                <a:effectLst/>
              </a:rPr>
              <a:t>• The external wearable device approach was confirmed as a realistic engineering solution. </a:t>
            </a:r>
          </a:p>
          <a:p>
            <a:r>
              <a:rPr lang="en" sz="1800" b="0" i="0" u="none" strike="noStrike" dirty="0">
                <a:effectLst/>
              </a:rPr>
              <a:t>• Critical physiological constraints addressed: electrode glial scarring and periodic software recalibration.</a:t>
            </a:r>
            <a:endParaRPr sz="1800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F38B0B21-F5A9-9716-4F54-D55AB2A0F6AE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785" r="7785"/>
          <a:stretch>
            <a:fillRect/>
          </a:stretch>
        </p:blipFill>
        <p:spPr>
          <a:xfrm>
            <a:off x="5481918" y="1187823"/>
            <a:ext cx="6172200" cy="4873625"/>
          </a:xfr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b="0" i="0" u="none" strike="noStrike" dirty="0">
                <a:solidFill>
                  <a:srgbClr val="000000"/>
                </a:solidFill>
                <a:effectLst/>
              </a:rPr>
              <a:t>Conclusion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4035078"/>
          </a:xfrm>
        </p:spPr>
        <p:txBody>
          <a:bodyPr>
            <a:normAutofit/>
          </a:bodyPr>
          <a:lstStyle/>
          <a:p>
            <a:r>
              <a:rPr lang="en" sz="2400" b="0" i="0" u="none" strike="noStrike" dirty="0">
                <a:effectLst/>
              </a:rPr>
              <a:t>Successfully developed a functional prototype of an adaptive neural interface system. </a:t>
            </a:r>
          </a:p>
          <a:p>
            <a:r>
              <a:rPr lang="en" sz="2400" b="0" i="0" u="none" strike="noStrike" dirty="0">
                <a:effectLst/>
              </a:rPr>
              <a:t>Benchmark results on synthetic data confirm that all primary target metrics have been met.</a:t>
            </a:r>
          </a:p>
          <a:p>
            <a:r>
              <a:rPr lang="en" sz="2400" b="0" i="0" u="none" strike="noStrike" dirty="0">
                <a:effectLst/>
              </a:rPr>
              <a:t>Academic consultation fully validated the scientific viability of the chosen technical approach.</a:t>
            </a:r>
          </a:p>
          <a:p>
            <a:r>
              <a:rPr lang="en" sz="2400" b="0" i="0" u="none" strike="noStrike" dirty="0">
                <a:effectLst/>
              </a:rPr>
              <a:t>Practical Impact: Promising foundation to assist ALS and Parkinson's patients with communication and device control.</a:t>
            </a:r>
            <a:endParaRPr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712" y="362184"/>
            <a:ext cx="10348133" cy="982522"/>
          </a:xfrm>
        </p:spPr>
        <p:txBody>
          <a:bodyPr/>
          <a:lstStyle/>
          <a:p>
            <a:pPr>
              <a:defRPr sz="2600" b="1">
                <a:latin typeface="Times New Roman"/>
              </a:defRPr>
            </a:pPr>
            <a:r>
              <a:rPr lang="en" sz="3600" b="0" i="0" u="none" strike="noStrike" dirty="0">
                <a:solidFill>
                  <a:srgbClr val="000000"/>
                </a:solidFill>
                <a:effectLst/>
                <a:latin typeface="+mn-lt"/>
              </a:rPr>
              <a:t>References</a:t>
            </a:r>
            <a:endParaRPr sz="36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300"/>
              </a:spcAft>
              <a:defRPr sz="1300">
                <a:latin typeface="Times New Roman"/>
              </a:defRPr>
            </a:pPr>
            <a:r>
              <a:rPr dirty="0" err="1"/>
              <a:t>Оппенгейм</a:t>
            </a:r>
            <a:r>
              <a:rPr dirty="0"/>
              <a:t> </a:t>
            </a:r>
            <a:r>
              <a:rPr dirty="0" err="1"/>
              <a:t>А</a:t>
            </a:r>
            <a:r>
              <a:rPr dirty="0"/>
              <a:t>. </a:t>
            </a:r>
            <a:r>
              <a:rPr dirty="0" err="1"/>
              <a:t>В</a:t>
            </a:r>
            <a:r>
              <a:rPr dirty="0"/>
              <a:t>., </a:t>
            </a:r>
            <a:r>
              <a:rPr dirty="0" err="1"/>
              <a:t>Шафер</a:t>
            </a:r>
            <a:r>
              <a:rPr dirty="0"/>
              <a:t> </a:t>
            </a:r>
            <a:r>
              <a:rPr dirty="0" err="1"/>
              <a:t>Р</a:t>
            </a:r>
            <a:r>
              <a:rPr dirty="0"/>
              <a:t>. </a:t>
            </a:r>
            <a:r>
              <a:rPr dirty="0" err="1"/>
              <a:t>В</a:t>
            </a:r>
            <a:r>
              <a:rPr dirty="0"/>
              <a:t>. </a:t>
            </a:r>
            <a:r>
              <a:rPr dirty="0" err="1"/>
              <a:t>Цифровая</a:t>
            </a:r>
            <a:r>
              <a:rPr dirty="0"/>
              <a:t> </a:t>
            </a:r>
            <a:r>
              <a:rPr dirty="0" err="1"/>
              <a:t>обработка</a:t>
            </a:r>
            <a:r>
              <a:rPr dirty="0"/>
              <a:t> </a:t>
            </a:r>
            <a:r>
              <a:rPr dirty="0" err="1"/>
              <a:t>сигналов</a:t>
            </a:r>
            <a:r>
              <a:rPr dirty="0"/>
              <a:t>. </a:t>
            </a:r>
            <a:r>
              <a:rPr dirty="0" err="1"/>
              <a:t>Учебник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ДВС, </a:t>
            </a:r>
            <a:r>
              <a:rPr dirty="0" err="1"/>
              <a:t>фильтрация</a:t>
            </a:r>
            <a:r>
              <a:rPr dirty="0"/>
              <a:t>, </a:t>
            </a:r>
            <a:r>
              <a:rPr dirty="0" err="1"/>
              <a:t>спектр</a:t>
            </a:r>
            <a:r>
              <a:rPr dirty="0"/>
              <a:t>, </a:t>
            </a:r>
            <a:r>
              <a:rPr dirty="0" err="1"/>
              <a:t>дискретное</a:t>
            </a:r>
            <a:r>
              <a:rPr dirty="0"/>
              <a:t> </a:t>
            </a:r>
            <a:r>
              <a:rPr dirty="0" err="1"/>
              <a:t>преобразование</a:t>
            </a:r>
            <a:r>
              <a:rPr dirty="0"/>
              <a:t> </a:t>
            </a:r>
            <a:r>
              <a:rPr dirty="0" err="1"/>
              <a:t>Фурье</a:t>
            </a:r>
            <a:r>
              <a:rPr dirty="0"/>
              <a:t>.</a:t>
            </a:r>
          </a:p>
          <a:p>
            <a:pPr>
              <a:spcAft>
                <a:spcPts val="300"/>
              </a:spcAft>
              <a:defRPr sz="1300">
                <a:latin typeface="Times New Roman"/>
              </a:defRPr>
            </a:pPr>
            <a:r>
              <a:rPr dirty="0"/>
              <a:t>Welch P. D. The use of fast Fourier transform for the estimation of power spectra: a method based on time averaging over short, modified periodograms. IEEE Trans. Audio </a:t>
            </a:r>
            <a:r>
              <a:rPr dirty="0" err="1"/>
              <a:t>Electroacoust</a:t>
            </a:r>
            <a:r>
              <a:rPr dirty="0"/>
              <a:t>., 1967 (</a:t>
            </a:r>
            <a:r>
              <a:rPr dirty="0" err="1"/>
              <a:t>метод</a:t>
            </a:r>
            <a:r>
              <a:rPr dirty="0"/>
              <a:t> </a:t>
            </a:r>
            <a:r>
              <a:rPr dirty="0" err="1"/>
              <a:t>Уэлча</a:t>
            </a:r>
            <a:r>
              <a:rPr dirty="0"/>
              <a:t>).</a:t>
            </a:r>
          </a:p>
          <a:p>
            <a:pPr>
              <a:spcAft>
                <a:spcPts val="300"/>
              </a:spcAft>
              <a:defRPr sz="1300">
                <a:latin typeface="Times New Roman"/>
              </a:defRPr>
            </a:pPr>
            <a:r>
              <a:rPr dirty="0" err="1"/>
              <a:t>Гайтон</a:t>
            </a:r>
            <a:r>
              <a:rPr dirty="0"/>
              <a:t> </a:t>
            </a:r>
            <a:r>
              <a:rPr dirty="0" err="1"/>
              <a:t>А</a:t>
            </a:r>
            <a:r>
              <a:rPr dirty="0"/>
              <a:t>. </a:t>
            </a:r>
            <a:r>
              <a:rPr dirty="0" err="1"/>
              <a:t>К</a:t>
            </a:r>
            <a:r>
              <a:rPr dirty="0"/>
              <a:t>., </a:t>
            </a:r>
            <a:r>
              <a:rPr dirty="0" err="1"/>
              <a:t>Холл</a:t>
            </a:r>
            <a:r>
              <a:rPr dirty="0"/>
              <a:t> </a:t>
            </a:r>
            <a:r>
              <a:rPr dirty="0" err="1"/>
              <a:t>Дж</a:t>
            </a:r>
            <a:r>
              <a:rPr dirty="0"/>
              <a:t>. </a:t>
            </a:r>
            <a:r>
              <a:rPr dirty="0" err="1"/>
              <a:t>Э</a:t>
            </a:r>
            <a:r>
              <a:rPr dirty="0"/>
              <a:t>. </a:t>
            </a:r>
            <a:r>
              <a:rPr dirty="0" err="1"/>
              <a:t>Медицинская</a:t>
            </a:r>
            <a:r>
              <a:rPr dirty="0"/>
              <a:t> </a:t>
            </a:r>
            <a:r>
              <a:rPr dirty="0" err="1"/>
              <a:t>физиология</a:t>
            </a:r>
            <a:r>
              <a:rPr dirty="0"/>
              <a:t> (</a:t>
            </a:r>
            <a:r>
              <a:rPr dirty="0" err="1"/>
              <a:t>разделы</a:t>
            </a:r>
            <a:r>
              <a:rPr dirty="0"/>
              <a:t> </a:t>
            </a:r>
            <a:r>
              <a:rPr dirty="0" err="1"/>
              <a:t>о</a:t>
            </a:r>
            <a:r>
              <a:rPr dirty="0"/>
              <a:t> </a:t>
            </a:r>
            <a:r>
              <a:rPr dirty="0" err="1"/>
              <a:t>нервной</a:t>
            </a:r>
            <a:r>
              <a:rPr dirty="0"/>
              <a:t> </a:t>
            </a:r>
            <a:r>
              <a:rPr dirty="0" err="1"/>
              <a:t>системе</a:t>
            </a:r>
            <a:r>
              <a:rPr dirty="0"/>
              <a:t>, </a:t>
            </a:r>
            <a:r>
              <a:rPr dirty="0" err="1"/>
              <a:t>двигательных</a:t>
            </a:r>
            <a:r>
              <a:rPr dirty="0"/>
              <a:t> </a:t>
            </a:r>
            <a:r>
              <a:rPr dirty="0" err="1"/>
              <a:t>нарушениях</a:t>
            </a:r>
            <a:r>
              <a:rPr dirty="0"/>
              <a:t>).</a:t>
            </a:r>
          </a:p>
          <a:p>
            <a:pPr>
              <a:spcAft>
                <a:spcPts val="300"/>
              </a:spcAft>
              <a:defRPr sz="1300">
                <a:latin typeface="Times New Roman"/>
              </a:defRPr>
            </a:pPr>
            <a:r>
              <a:rPr dirty="0" err="1"/>
              <a:t>Обзорные</a:t>
            </a:r>
            <a:r>
              <a:rPr dirty="0"/>
              <a:t> </a:t>
            </a:r>
            <a:r>
              <a:rPr dirty="0" err="1"/>
              <a:t>материалы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нейроинтерфейсам</a:t>
            </a:r>
            <a:r>
              <a:rPr dirty="0"/>
              <a:t>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декодированию</a:t>
            </a:r>
            <a:r>
              <a:rPr dirty="0"/>
              <a:t> </a:t>
            </a:r>
            <a:r>
              <a:rPr dirty="0" err="1"/>
              <a:t>моторных</a:t>
            </a:r>
            <a:r>
              <a:rPr dirty="0"/>
              <a:t> </a:t>
            </a:r>
            <a:r>
              <a:rPr dirty="0" err="1"/>
              <a:t>команд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многоканальным</a:t>
            </a:r>
            <a:r>
              <a:rPr dirty="0"/>
              <a:t> </a:t>
            </a:r>
            <a:r>
              <a:rPr dirty="0" err="1"/>
              <a:t>записям</a:t>
            </a:r>
            <a:r>
              <a:rPr dirty="0"/>
              <a:t> </a:t>
            </a:r>
            <a:r>
              <a:rPr dirty="0" err="1"/>
              <a:t>активности</a:t>
            </a:r>
            <a:r>
              <a:rPr dirty="0"/>
              <a:t> </a:t>
            </a:r>
            <a:r>
              <a:rPr dirty="0" err="1"/>
              <a:t>мозга</a:t>
            </a:r>
            <a:r>
              <a:rPr dirty="0"/>
              <a:t>.</a:t>
            </a:r>
          </a:p>
          <a:p>
            <a:pPr>
              <a:spcAft>
                <a:spcPts val="300"/>
              </a:spcAft>
              <a:defRPr sz="1300">
                <a:latin typeface="Times New Roman"/>
              </a:defRPr>
            </a:pPr>
            <a:r>
              <a:rPr dirty="0"/>
              <a:t>Goodfellow I., </a:t>
            </a:r>
            <a:r>
              <a:rPr dirty="0" err="1"/>
              <a:t>Bengio</a:t>
            </a:r>
            <a:r>
              <a:rPr dirty="0"/>
              <a:t> Y., Courville A. Deep Learning / </a:t>
            </a:r>
            <a:r>
              <a:rPr dirty="0" err="1"/>
              <a:t>Гудфеллоу</a:t>
            </a:r>
            <a:r>
              <a:rPr dirty="0"/>
              <a:t> </a:t>
            </a:r>
            <a:r>
              <a:rPr dirty="0" err="1"/>
              <a:t>И</a:t>
            </a:r>
            <a:r>
              <a:rPr dirty="0"/>
              <a:t>.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др</a:t>
            </a:r>
            <a:r>
              <a:rPr dirty="0"/>
              <a:t>. </a:t>
            </a:r>
            <a:r>
              <a:rPr dirty="0" err="1"/>
              <a:t>Глубокое</a:t>
            </a:r>
            <a:r>
              <a:rPr dirty="0"/>
              <a:t> </a:t>
            </a:r>
            <a:r>
              <a:rPr dirty="0" err="1"/>
              <a:t>обучение</a:t>
            </a:r>
            <a:r>
              <a:rPr dirty="0"/>
              <a:t> (</a:t>
            </a:r>
            <a:r>
              <a:rPr dirty="0" err="1"/>
              <a:t>главы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нейросетям</a:t>
            </a:r>
            <a:r>
              <a:rPr dirty="0"/>
              <a:t>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последовательностям</a:t>
            </a:r>
            <a:r>
              <a:rPr dirty="0"/>
              <a:t>).</a:t>
            </a:r>
          </a:p>
          <a:p>
            <a:pPr>
              <a:spcAft>
                <a:spcPts val="300"/>
              </a:spcAft>
              <a:defRPr sz="1300">
                <a:latin typeface="Times New Roman"/>
              </a:defRPr>
            </a:pPr>
            <a:r>
              <a:rPr dirty="0" err="1"/>
              <a:t>Gramfort</a:t>
            </a:r>
            <a:r>
              <a:rPr dirty="0"/>
              <a:t> A. et al. MEG and EEG data analysis with MNE-Python. Frontiers in Neuroscience, 2013 (</a:t>
            </a:r>
            <a:r>
              <a:rPr dirty="0" err="1"/>
              <a:t>экосистема</a:t>
            </a:r>
            <a:r>
              <a:rPr dirty="0"/>
              <a:t> MNE-Python).</a:t>
            </a:r>
          </a:p>
          <a:p>
            <a:pPr>
              <a:spcAft>
                <a:spcPts val="300"/>
              </a:spcAft>
              <a:defRPr sz="1300">
                <a:latin typeface="Times New Roman"/>
              </a:defRPr>
            </a:pPr>
            <a:r>
              <a:rPr dirty="0" err="1"/>
              <a:t>Документация</a:t>
            </a:r>
            <a:r>
              <a:rPr dirty="0"/>
              <a:t>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руководства</a:t>
            </a:r>
            <a:r>
              <a:rPr dirty="0"/>
              <a:t> </a:t>
            </a:r>
            <a:r>
              <a:rPr dirty="0" err="1"/>
              <a:t>пользователя</a:t>
            </a:r>
            <a:r>
              <a:rPr dirty="0"/>
              <a:t>: NumPy, SciPy, scikit-learn; TensorFlow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Keras</a:t>
            </a:r>
            <a:r>
              <a:rPr dirty="0"/>
              <a:t> (</a:t>
            </a:r>
            <a:r>
              <a:rPr dirty="0" err="1"/>
              <a:t>описание</a:t>
            </a:r>
            <a:r>
              <a:rPr dirty="0"/>
              <a:t> API </a:t>
            </a:r>
            <a:r>
              <a:rPr dirty="0" err="1"/>
              <a:t>моделей</a:t>
            </a:r>
            <a:r>
              <a:rPr dirty="0"/>
              <a:t>).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Цитаты">
  <a:themeElements>
    <a:clrScheme name="Цитаты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Цитаты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Цитаты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ppt/theme/themeOverride1.xml><?xml version="1.0" encoding="utf-8"?>
<a:themeOverride xmlns:a="http://schemas.openxmlformats.org/drawingml/2006/main">
  <a:clrScheme name="Цитаты">
    <a:dk1>
      <a:sysClr val="windowText" lastClr="000000"/>
    </a:dk1>
    <a:lt1>
      <a:sysClr val="window" lastClr="FFFFFF"/>
    </a:lt1>
    <a:dk2>
      <a:srgbClr val="212121"/>
    </a:dk2>
    <a:lt2>
      <a:srgbClr val="636363"/>
    </a:lt2>
    <a:accent1>
      <a:srgbClr val="00C6BB"/>
    </a:accent1>
    <a:accent2>
      <a:srgbClr val="6FEBA0"/>
    </a:accent2>
    <a:accent3>
      <a:srgbClr val="B6DF5E"/>
    </a:accent3>
    <a:accent4>
      <a:srgbClr val="EFB251"/>
    </a:accent4>
    <a:accent5>
      <a:srgbClr val="EF755F"/>
    </a:accent5>
    <a:accent6>
      <a:srgbClr val="ED515C"/>
    </a:accent6>
    <a:hlink>
      <a:srgbClr val="8F8F8F"/>
    </a:hlink>
    <a:folHlink>
      <a:srgbClr val="A5A5A5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679</TotalTime>
  <Words>586</Words>
  <Application>Microsoft Macintosh PowerPoint</Application>
  <PresentationFormat>Широкоэкранный</PresentationFormat>
  <Paragraphs>44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Century Gothic</vt:lpstr>
      <vt:lpstr>Times New Roman</vt:lpstr>
      <vt:lpstr>Wingdings 2</vt:lpstr>
      <vt:lpstr>Цитаты</vt:lpstr>
      <vt:lpstr>Adaptive Neural Interface System for ALS and Parkinson's Disease Patients</vt:lpstr>
      <vt:lpstr>Relevance &amp; Objectives</vt:lpstr>
      <vt:lpstr>Chapter 1: Algorithm Architecture</vt:lpstr>
      <vt:lpstr>Chapter 2: Synthetic Data Testing</vt:lpstr>
      <vt:lpstr>Chapter 3: External Hardware Unit</vt:lpstr>
      <vt:lpstr>Chapter 4: Expert Consultation</vt:lpstr>
      <vt:lpstr>Conclusion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Microsoft Office User</dc:creator>
  <cp:lastModifiedBy>Microsoft Office User</cp:lastModifiedBy>
  <cp:revision>7</cp:revision>
  <dcterms:created xsi:type="dcterms:W3CDTF">2026-02-20T17:02:40Z</dcterms:created>
  <dcterms:modified xsi:type="dcterms:W3CDTF">2026-08-27T15:08:53Z</dcterms:modified>
</cp:coreProperties>
</file>